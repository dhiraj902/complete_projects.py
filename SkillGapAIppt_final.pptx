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72" r:id="rId5"/>
    <p:sldId id="261" r:id="rId6"/>
    <p:sldId id="260" r:id="rId7"/>
    <p:sldId id="262" r:id="rId8"/>
    <p:sldId id="263" r:id="rId9"/>
    <p:sldId id="264" r:id="rId10"/>
    <p:sldId id="265" r:id="rId11"/>
    <p:sldId id="271" r:id="rId12"/>
    <p:sldId id="266" r:id="rId13"/>
    <p:sldId id="270" r:id="rId14"/>
    <p:sldId id="267" r:id="rId15"/>
    <p:sldId id="268" r:id="rId16"/>
    <p:sldId id="275" r:id="rId17"/>
    <p:sldId id="269" r:id="rId18"/>
    <p:sldId id="25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A372E0-8AE9-498C-A2DA-F6800B0B302B}">
          <p14:sldIdLst>
            <p14:sldId id="256"/>
            <p14:sldId id="257"/>
            <p14:sldId id="259"/>
            <p14:sldId id="272"/>
            <p14:sldId id="261"/>
            <p14:sldId id="260"/>
            <p14:sldId id="262"/>
            <p14:sldId id="263"/>
            <p14:sldId id="264"/>
            <p14:sldId id="265"/>
            <p14:sldId id="271"/>
            <p14:sldId id="266"/>
            <p14:sldId id="270"/>
            <p14:sldId id="267"/>
            <p14:sldId id="268"/>
            <p14:sldId id="275"/>
            <p14:sldId id="269"/>
          </p14:sldIdLst>
        </p14:section>
        <p14:section name="Untitled Section" id="{05C9DD20-A0F0-4AAE-8F35-E41AF8478585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389888"/>
            <a:ext cx="7461504" cy="2679192"/>
          </a:xfr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sv-SE" b="1" dirty="0"/>
              <a:t>SkillGapAI: Resume &amp; JD Skill Gap Analysis</a:t>
            </a:r>
            <a:endParaRPr b="1" dirty="0"/>
          </a:p>
        </p:txBody>
      </p:sp>
      <p:sp>
        <p:nvSpPr>
          <p:cNvPr id="6" name="TextBox 5"/>
          <p:cNvSpPr txBox="1"/>
          <p:nvPr/>
        </p:nvSpPr>
        <p:spPr>
          <a:xfrm>
            <a:off x="6146276" y="4587743"/>
            <a:ext cx="2535025" cy="217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       </a:t>
            </a:r>
            <a:r>
              <a:rPr lang="en-US" sz="2000" b="1" dirty="0">
                <a:solidFill>
                  <a:srgbClr val="C00000"/>
                </a:solidFill>
              </a:rPr>
              <a:t>BY TEAM – B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Dheeraj Kushwaha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Tharun Kumar Marati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Rublin</a:t>
            </a:r>
            <a:r>
              <a:rPr lang="en-US" b="1" dirty="0"/>
              <a:t> </a:t>
            </a:r>
            <a:r>
              <a:rPr lang="en-US" b="1" dirty="0" err="1"/>
              <a:t>Renisha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 err="1"/>
              <a:t>Ickra</a:t>
            </a:r>
            <a:r>
              <a:rPr lang="en-IN" b="1" dirty="0"/>
              <a:t> Khan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232" y="68074"/>
            <a:ext cx="3056467" cy="1580217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/>
              <a:t>I</a:t>
            </a:r>
            <a:r>
              <a:rPr b="1" dirty="0"/>
              <a:t>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1781175"/>
            <a:ext cx="7772399" cy="41719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sz="3000" dirty="0" err="1">
                <a:latin typeface="Constantia" panose="02030602050306030303" pitchFamily="18" charset="0"/>
              </a:rPr>
              <a:t>SkillGapAI</a:t>
            </a:r>
            <a:r>
              <a:rPr lang="en-US" sz="3000" dirty="0">
                <a:latin typeface="Constantia" panose="02030602050306030303" pitchFamily="18" charset="0"/>
              </a:rPr>
              <a:t> helps users understand their skills easily.</a:t>
            </a:r>
          </a:p>
          <a:p>
            <a:pPr>
              <a:lnSpc>
                <a:spcPct val="170000"/>
              </a:lnSpc>
            </a:pPr>
            <a:r>
              <a:rPr lang="en-US" sz="3000" dirty="0">
                <a:latin typeface="Constantia" panose="02030602050306030303" pitchFamily="18" charset="0"/>
              </a:rPr>
              <a:t>This project compares user skills with job requirements.</a:t>
            </a:r>
          </a:p>
          <a:p>
            <a:pPr>
              <a:lnSpc>
                <a:spcPct val="170000"/>
              </a:lnSpc>
            </a:pPr>
            <a:r>
              <a:rPr lang="en-US" sz="3000" dirty="0">
                <a:latin typeface="Constantia" panose="02030602050306030303" pitchFamily="18" charset="0"/>
              </a:rPr>
              <a:t>It uses AI to analyze resumes and job descriptions.</a:t>
            </a:r>
          </a:p>
          <a:p>
            <a:pPr>
              <a:lnSpc>
                <a:spcPct val="170000"/>
              </a:lnSpc>
            </a:pPr>
            <a:r>
              <a:rPr lang="en-US" sz="3000" dirty="0">
                <a:latin typeface="Constantia" panose="02030602050306030303" pitchFamily="18" charset="0"/>
              </a:rPr>
              <a:t>Manual skill checking is replaced by an automated system.</a:t>
            </a:r>
          </a:p>
          <a:p>
            <a:pPr>
              <a:lnSpc>
                <a:spcPct val="170000"/>
              </a:lnSpc>
            </a:pPr>
            <a:r>
              <a:rPr lang="en-US" sz="3000" dirty="0">
                <a:latin typeface="Constantia" panose="02030602050306030303" pitchFamily="18" charset="0"/>
              </a:rPr>
              <a:t>The system quickly finds missing skills (skill gaps).</a:t>
            </a:r>
          </a:p>
          <a:p>
            <a:endParaRPr sz="28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664" y="2185416"/>
            <a:ext cx="7999412" cy="4215384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</a:rPr>
              <a:t>The main objective is to identify skill gaps between users and job requirements.</a:t>
            </a:r>
          </a:p>
          <a:p>
            <a:r>
              <a:rPr lang="en-US" dirty="0">
                <a:latin typeface="Constantia" panose="02030602050306030303" pitchFamily="18" charset="0"/>
              </a:rPr>
              <a:t>The system should provide accurate and meaningful skill matching results.</a:t>
            </a:r>
          </a:p>
          <a:p>
            <a:r>
              <a:rPr lang="en-US" dirty="0">
                <a:latin typeface="Constantia" panose="02030602050306030303" pitchFamily="18" charset="0"/>
              </a:rPr>
              <a:t>The system works in real time using Python and machine learning techniques.</a:t>
            </a:r>
          </a:p>
          <a:p>
            <a:r>
              <a:rPr lang="en-US" dirty="0">
                <a:latin typeface="Constantia" panose="02030602050306030303" pitchFamily="18" charset="0"/>
              </a:rPr>
              <a:t>It should analyze resumes and job descriptions quickly and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98B-1A11-D048-30CA-BF2CD478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B205A9EA-9BE2-157E-DC3B-A873F10444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616" t="8947" b="8580"/>
          <a:stretch>
            <a:fillRect/>
          </a:stretch>
        </p:blipFill>
        <p:spPr>
          <a:xfrm>
            <a:off x="1001486" y="1384662"/>
            <a:ext cx="7820295" cy="441524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9664C2F-E680-8952-04F7-629E5E51B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2D66D-CA82-3932-03DE-FBE706736C5D}"/>
              </a:ext>
            </a:extLst>
          </p:cNvPr>
          <p:cNvSpPr txBox="1"/>
          <p:nvPr/>
        </p:nvSpPr>
        <p:spPr>
          <a:xfrm>
            <a:off x="1001486" y="1387704"/>
            <a:ext cx="7351776" cy="584775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32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10899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0800000">
            <a:off x="2057399" y="3730751"/>
            <a:ext cx="5529285" cy="52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659746" y="-10222486"/>
            <a:ext cx="74418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1: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extracting and cleaning resume and job description data to create structured, NLP-ready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2: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and extracts relevant technical and soft skills using NLP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3: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Compares extracted skills to detect matches and identify skill gaps between candidates and job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4: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Presents insights through visualizations and provides actionable recommendations for improvement.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859536" y="2035515"/>
            <a:ext cx="8065008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Milestone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Focuses on extracting and cleaning resume and job description data to create structured, NLP-ready input.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Milestone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Identifies and extracts relevant technical and soft skills using NLP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Milestone 3: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Compares extracted skills to detect matches and identify skill gaps between candidates and job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Milestone 4: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Presents insights through visualizations and provides actionable recommendations for improvement.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402336"/>
            <a:ext cx="7351776" cy="1077218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3200" b="1" dirty="0" err="1">
                <a:ln w="3175" cmpd="sng">
                  <a:noFill/>
                </a:ln>
                <a:latin typeface="+mj-lt"/>
                <a:ea typeface="+mj-ea"/>
                <a:cs typeface="+mj-cs"/>
              </a:rPr>
              <a:t>SkillGapAI</a:t>
            </a:r>
            <a:r>
              <a:rPr lang="en-IN" sz="32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 – Project Milestones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584" y="184667"/>
            <a:ext cx="7452360" cy="519421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b="1" dirty="0"/>
              <a:t>Milestone 1: Resume &amp; Job Description Data Processing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 rot="10800000" flipV="1">
            <a:off x="1627632" y="871747"/>
            <a:ext cx="7626096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Focuses on processing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resumes and job descriptions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tantia" panose="0203060205030603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Handles multiple file formats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PDF, DOCX, and TXT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b="1" dirty="0">
                <a:latin typeface="Constantia" panose="02030602050306030303" pitchFamily="18" charset="0"/>
              </a:rPr>
              <a:t>Extracts and parses accurate textual data from unstructured documents and </a:t>
            </a:r>
            <a:r>
              <a:rPr lang="en-IN" sz="2000" dirty="0">
                <a:latin typeface="Constantia" panose="02030602050306030303" pitchFamily="18" charset="0"/>
              </a:rPr>
              <a:t>Extract raw text from uploaded documents using appropriate libraries:</a:t>
            </a:r>
          </a:p>
          <a:p>
            <a:pPr lvl="1"/>
            <a:r>
              <a:rPr lang="en-IN" sz="2000" dirty="0">
                <a:latin typeface="Constantia" panose="02030602050306030303" pitchFamily="18" charset="0"/>
              </a:rPr>
              <a:t>PDFs → PyPDF2 / </a:t>
            </a:r>
            <a:r>
              <a:rPr lang="en-IN" sz="2000" dirty="0" err="1">
                <a:latin typeface="Constantia" panose="02030602050306030303" pitchFamily="18" charset="0"/>
              </a:rPr>
              <a:t>pdfplumber</a:t>
            </a:r>
            <a:endParaRPr lang="en-IN" sz="2000" dirty="0">
              <a:latin typeface="Constantia" panose="02030602050306030303" pitchFamily="18" charset="0"/>
            </a:endParaRPr>
          </a:p>
          <a:p>
            <a:pPr lvl="1"/>
            <a:r>
              <a:rPr lang="en-IN" sz="2000" dirty="0">
                <a:latin typeface="Constantia" panose="02030602050306030303" pitchFamily="18" charset="0"/>
              </a:rPr>
              <a:t>DOCX → python-docx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Converts raw text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clean and structured format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tantia" panose="0203060205030603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file upload handling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for user input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text extraction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from uploaded documents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Applies essential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preprocessing steps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, including: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Removing unnecessary characters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Normalizing text</a:t>
            </a:r>
            <a:r>
              <a:rPr lang="en-US" altLang="en-US" sz="2000" dirty="0">
                <a:latin typeface="Constantia" panose="02030602050306030303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and Fixing formatting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 noGrp="1" noUngrp="1" noRot="1" noChangeAspect="1" noMove="1" noResize="1"/>
          </p:cNvGrpSpPr>
          <p:nvPr/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9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97049" y="321734"/>
            <a:ext cx="830565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577" y="959939"/>
            <a:ext cx="6710154" cy="4479027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cross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4972" y="414779"/>
            <a:ext cx="7956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Milestone 2 : Skill Extraction &amp; Classification</a:t>
            </a:r>
            <a:endParaRPr lang="en-IN" sz="3200" dirty="0">
              <a:latin typeface="+mj-lt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904972" y="1553080"/>
            <a:ext cx="3855563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nstantia" panose="02030602050306030303" pitchFamily="18" charset="0"/>
                <a:cs typeface="Times New Roman" panose="02020603050405020304" pitchFamily="18" charset="0"/>
              </a:rPr>
              <a:t> Converts unstructured resume and JD    text into meaningful skills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nstantia" panose="02030602050306030303" pitchFamily="18" charset="0"/>
                <a:cs typeface="Times New Roman" panose="02020603050405020304" pitchFamily="18" charset="0"/>
              </a:rPr>
              <a:t> Acts as the foundation for skill comparison and gap analysis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nstantia" panose="02030602050306030303" pitchFamily="18" charset="0"/>
                <a:cs typeface="Times New Roman" panose="02020603050405020304" pitchFamily="18" charset="0"/>
              </a:rPr>
              <a:t> Separates skills into </a:t>
            </a:r>
            <a:r>
              <a:rPr lang="en-US" sz="2000" b="1" dirty="0">
                <a:latin typeface="Constantia" panose="02030602050306030303" pitchFamily="18" charset="0"/>
                <a:cs typeface="Times New Roman" panose="02020603050405020304" pitchFamily="18" charset="0"/>
              </a:rPr>
              <a:t>Technical</a:t>
            </a:r>
            <a:r>
              <a:rPr lang="en-US" sz="2000" dirty="0">
                <a:latin typeface="Constantia" panose="02030602050306030303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Constantia" panose="02030602050306030303" pitchFamily="18" charset="0"/>
                <a:cs typeface="Times New Roman" panose="02020603050405020304" pitchFamily="18" charset="0"/>
              </a:rPr>
              <a:t>Soft Skills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nstantia" panose="02030602050306030303" pitchFamily="18" charset="0"/>
                <a:cs typeface="Times New Roman" panose="02020603050405020304" pitchFamily="18" charset="0"/>
              </a:rPr>
              <a:t> Ensures clean, duplicate-free skill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378" y="1385740"/>
            <a:ext cx="4119514" cy="4534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0899" y="537328"/>
            <a:ext cx="7381187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Skill Extraction Module</a:t>
            </a:r>
            <a:r>
              <a:rPr lang="en-IN" sz="2000" dirty="0">
                <a:latin typeface="Constantia" panose="02030602050306030303" pitchFamily="18" charset="0"/>
              </a:rPr>
              <a:t> – Identifies relevant skills from resume and JD text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Skill Classification Module</a:t>
            </a:r>
            <a:r>
              <a:rPr lang="en-IN" sz="2000" dirty="0">
                <a:latin typeface="Constantia" panose="02030602050306030303" pitchFamily="18" charset="0"/>
              </a:rPr>
              <a:t> – Separates skills into Technical and Soft Skills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Data Cleaning Module</a:t>
            </a:r>
            <a:r>
              <a:rPr lang="en-IN" sz="2000" dirty="0">
                <a:latin typeface="Constantia" panose="02030602050306030303" pitchFamily="18" charset="0"/>
              </a:rPr>
              <a:t> – Removes duplicate and irrelevant skills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Natural Language Processing (NLP)</a:t>
            </a:r>
            <a:r>
              <a:rPr lang="en-IN" sz="2000" dirty="0">
                <a:latin typeface="Constantia" panose="02030602050306030303" pitchFamily="18" charset="0"/>
              </a:rPr>
              <a:t> – For understanding unstructured text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Rule-based Skill Matching</a:t>
            </a:r>
            <a:r>
              <a:rPr lang="en-IN" sz="2000" dirty="0">
                <a:latin typeface="Constantia" panose="02030602050306030303" pitchFamily="18" charset="0"/>
              </a:rPr>
              <a:t> – Matches predefined skill vocabulary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Constantia" panose="02030602050306030303" pitchFamily="18" charset="0"/>
              </a:rPr>
              <a:t>SpaCy</a:t>
            </a:r>
            <a:r>
              <a:rPr lang="en-IN" sz="2000" dirty="0">
                <a:latin typeface="Constantia" panose="02030602050306030303" pitchFamily="18" charset="0"/>
              </a:rPr>
              <a:t> – Text processing and NLP analysis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onstantia" panose="02030602050306030303" pitchFamily="18" charset="0"/>
              </a:rPr>
              <a:t>Python</a:t>
            </a:r>
            <a:r>
              <a:rPr lang="en-IN" sz="2000" dirty="0">
                <a:latin typeface="Constantia" panose="02030602050306030303" pitchFamily="18" charset="0"/>
              </a:rPr>
              <a:t> – Core programming language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Constantia" panose="02030602050306030303" pitchFamily="18" charset="0"/>
              </a:rPr>
              <a:t>Plotly</a:t>
            </a:r>
            <a:r>
              <a:rPr lang="en-IN" sz="2000" dirty="0">
                <a:latin typeface="Constantia" panose="02030602050306030303" pitchFamily="18" charset="0"/>
              </a:rPr>
              <a:t> – Skill visualization using charts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Constantia" panose="02030602050306030303" pitchFamily="18" charset="0"/>
              </a:rPr>
              <a:t>Streamlit</a:t>
            </a:r>
            <a:r>
              <a:rPr lang="en-IN" sz="2000" dirty="0">
                <a:latin typeface="Constantia" panose="02030602050306030303" pitchFamily="18" charset="0"/>
              </a:rPr>
              <a:t> – UI integration and display</a:t>
            </a:r>
          </a:p>
          <a:p>
            <a:endParaRPr lang="en-IN" sz="2000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584" y="695854"/>
            <a:ext cx="7452360" cy="519421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b="1" dirty="0"/>
              <a:t>Milestone 3: Skill Gap Analysis &amp; Similarity Matching</a:t>
            </a:r>
            <a:endParaRPr lang="en-IN" sz="32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 rot="10800000" flipV="1">
            <a:off x="1517904" y="1502688"/>
            <a:ext cx="762609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tantia" panose="02030602050306030303" pitchFamily="18" charset="0"/>
              </a:rPr>
              <a:t>Focuses on </a:t>
            </a:r>
            <a:r>
              <a:rPr lang="en-US" b="1" dirty="0">
                <a:latin typeface="Constantia" panose="02030602050306030303" pitchFamily="18" charset="0"/>
              </a:rPr>
              <a:t>comparing extracted resume skills with job description skills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tantia" panose="02030602050306030303" pitchFamily="18" charset="0"/>
              </a:rPr>
              <a:t>Converts skills into </a:t>
            </a:r>
            <a:r>
              <a:rPr lang="en-US" b="1" dirty="0">
                <a:latin typeface="Constantia" panose="02030602050306030303" pitchFamily="18" charset="0"/>
              </a:rPr>
              <a:t>semantic embeddings</a:t>
            </a:r>
            <a:r>
              <a:rPr lang="en-US" dirty="0">
                <a:latin typeface="Constantia" panose="02030602050306030303" pitchFamily="18" charset="0"/>
              </a:rPr>
              <a:t> using </a:t>
            </a:r>
            <a:r>
              <a:rPr lang="en-US" b="1" dirty="0">
                <a:latin typeface="Constantia" panose="02030602050306030303" pitchFamily="18" charset="0"/>
              </a:rPr>
              <a:t>BERT-based models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tantia" panose="02030602050306030303" pitchFamily="18" charset="0"/>
              </a:rPr>
              <a:t>Measures </a:t>
            </a:r>
            <a:r>
              <a:rPr lang="en-US" b="1" dirty="0">
                <a:latin typeface="Constantia" panose="02030602050306030303" pitchFamily="18" charset="0"/>
              </a:rPr>
              <a:t>similarity scores</a:t>
            </a:r>
            <a:r>
              <a:rPr lang="en-US" dirty="0">
                <a:latin typeface="Constantia" panose="02030602050306030303" pitchFamily="18" charset="0"/>
              </a:rPr>
              <a:t> between resume skills and job-required skills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tantia" panose="02030602050306030303" pitchFamily="18" charset="0"/>
              </a:rPr>
              <a:t>Uses </a:t>
            </a:r>
            <a:r>
              <a:rPr lang="en-US" b="1" dirty="0">
                <a:latin typeface="Constantia" panose="02030602050306030303" pitchFamily="18" charset="0"/>
              </a:rPr>
              <a:t>cosine similarity</a:t>
            </a:r>
            <a:r>
              <a:rPr lang="en-US" dirty="0">
                <a:latin typeface="Constantia" panose="02030602050306030303" pitchFamily="18" charset="0"/>
              </a:rPr>
              <a:t> to determine how closely skills are related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</a:rPr>
              <a:t>Categorizes skills based on </a:t>
            </a:r>
            <a:r>
              <a:rPr lang="en-US" b="1" dirty="0">
                <a:latin typeface="Constantia" panose="02030602050306030303" pitchFamily="18" charset="0"/>
              </a:rPr>
              <a:t>predefined similarity thresholds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</a:rPr>
              <a:t>Identifies: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nstantia" panose="02030602050306030303" pitchFamily="18" charset="0"/>
              </a:rPr>
              <a:t>Fully matched skills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nstantia" panose="02030602050306030303" pitchFamily="18" charset="0"/>
              </a:rPr>
              <a:t>Partially matched skills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nstantia" panose="02030602050306030303" pitchFamily="18" charset="0"/>
              </a:rPr>
              <a:t>Missing skills</a:t>
            </a:r>
            <a:endParaRPr lang="en-US" b="1" dirty="0">
              <a:latin typeface="Constantia" panose="02030602050306030303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tantia" panose="02030602050306030303" pitchFamily="18" charset="0"/>
              </a:rPr>
              <a:t>Outputs structured results for: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nstantia" panose="02030602050306030303" pitchFamily="18" charset="0"/>
              </a:rPr>
              <a:t>Skill comparison</a:t>
            </a:r>
          </a:p>
          <a:p>
            <a:pPr lvl="1"/>
            <a:endParaRPr lang="en-US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4FA2-1A50-88B4-0B57-500D1738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A2B2EA7-9196-0461-77AD-1A570375B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A9DD4907-C23E-BC05-5E3F-0831F95BE9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82773" y="160722"/>
            <a:ext cx="7626096" cy="586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1">
              <a:lnSpc>
                <a:spcPct val="150000"/>
              </a:lnSpc>
            </a:pPr>
            <a:endParaRPr lang="en-US" dirty="0">
              <a:latin typeface="Constantia" panose="0203060205030603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onstantia" panose="02030602050306030303" pitchFamily="18" charset="0"/>
              </a:rPr>
              <a:t>Libraries &amp; Tools Used:</a:t>
            </a:r>
            <a:endParaRPr lang="en-US" b="1" dirty="0">
              <a:latin typeface="Constantia" panose="0203060205030603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onstantia" panose="02030602050306030303" pitchFamily="18" charset="0"/>
              </a:rPr>
              <a:t>• Sentence-Transformers / BERT</a:t>
            </a:r>
            <a:br>
              <a:rPr lang="en-IN" dirty="0">
                <a:latin typeface="Constantia" panose="02030602050306030303" pitchFamily="18" charset="0"/>
              </a:rPr>
            </a:br>
            <a:r>
              <a:rPr lang="en-IN" dirty="0">
                <a:latin typeface="Constantia" panose="02030602050306030303" pitchFamily="18" charset="0"/>
              </a:rPr>
              <a:t>– Generates semantic embeddings for extracted skills.</a:t>
            </a:r>
            <a:br>
              <a:rPr lang="en-IN" dirty="0">
                <a:latin typeface="Constantia" panose="02030602050306030303" pitchFamily="18" charset="0"/>
              </a:rPr>
            </a:br>
            <a:r>
              <a:rPr lang="en-IN" dirty="0">
                <a:latin typeface="Constantia" panose="02030602050306030303" pitchFamily="18" charset="0"/>
              </a:rPr>
              <a:t>– Enables contextual understanding of skill similarity.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onstantia" panose="02030602050306030303" pitchFamily="18" charset="0"/>
              </a:rPr>
              <a:t>• </a:t>
            </a:r>
            <a:r>
              <a:rPr lang="en-IN" dirty="0">
                <a:latin typeface="Constantia" panose="02030602050306030303" pitchFamily="18" charset="0"/>
              </a:rPr>
              <a:t>scikit-learn</a:t>
            </a:r>
            <a:br>
              <a:rPr lang="en-IN" dirty="0">
                <a:latin typeface="Constantia" panose="02030602050306030303" pitchFamily="18" charset="0"/>
              </a:rPr>
            </a:br>
            <a:r>
              <a:rPr lang="en-IN" dirty="0">
                <a:latin typeface="Constantia" panose="02030602050306030303" pitchFamily="18" charset="0"/>
              </a:rPr>
              <a:t>– Used for </a:t>
            </a:r>
            <a:r>
              <a:rPr lang="en-IN" b="1" dirty="0">
                <a:latin typeface="Constantia" panose="02030602050306030303" pitchFamily="18" charset="0"/>
              </a:rPr>
              <a:t>cosine similarity</a:t>
            </a:r>
            <a:r>
              <a:rPr lang="en-IN" dirty="0">
                <a:latin typeface="Constantia" panose="02030602050306030303" pitchFamily="18" charset="0"/>
              </a:rPr>
              <a:t> computation.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nstantia" panose="02030602050306030303" pitchFamily="18" charset="0"/>
              </a:rPr>
              <a:t>• NumPy</a:t>
            </a:r>
            <a:br>
              <a:rPr lang="en-IN" dirty="0">
                <a:latin typeface="Constantia" panose="02030602050306030303" pitchFamily="18" charset="0"/>
              </a:rPr>
            </a:br>
            <a:r>
              <a:rPr lang="en-IN" dirty="0">
                <a:latin typeface="Constantia" panose="02030602050306030303" pitchFamily="18" charset="0"/>
              </a:rPr>
              <a:t>– Handles vector operations and numerical computations.</a:t>
            </a:r>
          </a:p>
          <a:p>
            <a:pPr>
              <a:lnSpc>
                <a:spcPct val="150000"/>
              </a:lnSpc>
            </a:pPr>
            <a:endParaRPr lang="en-IN" dirty="0">
              <a:latin typeface="Constantia" panose="0203060205030603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onstantia" panose="02030602050306030303" pitchFamily="18" charset="0"/>
              </a:rPr>
              <a:t>Key Advantages: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Goes beyond keyword-based matching.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Captures semantic similarity between skills.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accurate and meaningful skill gap analysis.</a:t>
            </a:r>
            <a:endParaRPr lang="en-IN" b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54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1446" y="888275"/>
            <a:ext cx="7270553" cy="48440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DFFB-EB24-AF51-F873-3D8531F7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BAD0B6F-46D0-81DE-1F09-52044C00A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yellow oval with black text&#10;&#10;AI-generated content may be incorrect.">
            <a:extLst>
              <a:ext uri="{FF2B5EF4-FFF2-40B4-BE49-F238E27FC236}">
                <a16:creationId xmlns:a16="http://schemas.microsoft.com/office/drawing/2014/main" id="{796EF2CD-400F-B52C-F33A-2AB853DB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1629267"/>
            <a:ext cx="7942217" cy="1502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pie chart with numbers and a few missing&#10;&#10;AI-generated content may be incorrect.">
            <a:extLst>
              <a:ext uri="{FF2B5EF4-FFF2-40B4-BE49-F238E27FC236}">
                <a16:creationId xmlns:a16="http://schemas.microsoft.com/office/drawing/2014/main" id="{361234A0-528F-D80C-E86E-AF9CAA07C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489" y="3131697"/>
            <a:ext cx="3667022" cy="3404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95F9AF-73CC-78F0-DD72-248E3251D33A}"/>
              </a:ext>
            </a:extLst>
          </p:cNvPr>
          <p:cNvSpPr txBox="1"/>
          <p:nvPr/>
        </p:nvSpPr>
        <p:spPr>
          <a:xfrm>
            <a:off x="1216152" y="402336"/>
            <a:ext cx="7351776" cy="584775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M</a:t>
            </a:r>
            <a:r>
              <a:rPr lang="en-IN" sz="3200" b="1" dirty="0" err="1">
                <a:ln w="3175" cmpd="sng">
                  <a:noFill/>
                </a:ln>
                <a:latin typeface="+mj-lt"/>
                <a:ea typeface="+mj-ea"/>
                <a:cs typeface="+mj-cs"/>
              </a:rPr>
              <a:t>ilestone</a:t>
            </a:r>
            <a:r>
              <a:rPr lang="en-IN" sz="32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 3: Output</a:t>
            </a:r>
          </a:p>
        </p:txBody>
      </p:sp>
    </p:spTree>
    <p:extLst>
      <p:ext uri="{BB962C8B-B14F-4D97-AF65-F5344CB8AC3E}">
        <p14:creationId xmlns:p14="http://schemas.microsoft.com/office/powerpoint/2010/main" val="580181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4: Dashboard &amp;
Report Export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057" y="2070653"/>
            <a:ext cx="7704667" cy="333281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interactive end-to-end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Displayed skill match scores and comparisons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Enabled PDF and CSV report downloads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usability with clean UI.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WORKFLOW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034" y="2178444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 Upload Resume </a:t>
            </a:r>
          </a:p>
          <a:p>
            <a:pPr marL="0" indent="0">
              <a:buNone/>
            </a:pPr>
            <a:r>
              <a:rPr lang="en-IN" dirty="0"/>
              <a:t>2. Upload Job Description </a:t>
            </a:r>
          </a:p>
          <a:p>
            <a:pPr marL="0" indent="0">
              <a:buNone/>
            </a:pPr>
            <a:r>
              <a:rPr lang="en-IN" dirty="0"/>
              <a:t>3. Skill Extraction </a:t>
            </a:r>
          </a:p>
          <a:p>
            <a:pPr marL="0" indent="0">
              <a:buNone/>
            </a:pPr>
            <a:r>
              <a:rPr lang="en-IN" dirty="0"/>
              <a:t>4. Match Analysis </a:t>
            </a:r>
          </a:p>
          <a:p>
            <a:pPr marL="0" indent="0">
              <a:buNone/>
            </a:pPr>
            <a:r>
              <a:rPr lang="en-IN" dirty="0"/>
              <a:t>5. Visualization &amp; Reports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0" y="2067560"/>
            <a:ext cx="482981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2C1A-30F2-7FA5-31D3-461AD928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01209"/>
          </a:xfrm>
        </p:spPr>
        <p:txBody>
          <a:bodyPr/>
          <a:lstStyle/>
          <a:p>
            <a:r>
              <a:rPr lang="en-US" dirty="0"/>
              <a:t>Milestone 4 : 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054C0D-8240-EDBD-7463-7DB3B8695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204" y="1608880"/>
            <a:ext cx="8102279" cy="4907667"/>
          </a:xfrm>
        </p:spPr>
      </p:pic>
    </p:spTree>
    <p:extLst>
      <p:ext uri="{BB962C8B-B14F-4D97-AF65-F5344CB8AC3E}">
        <p14:creationId xmlns:p14="http://schemas.microsoft.com/office/powerpoint/2010/main" val="86863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06323"/>
          </a:xfrm>
        </p:spPr>
        <p:txBody>
          <a:bodyPr/>
          <a:lstStyle/>
          <a:p>
            <a:r>
              <a:rPr lang="en-IN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578735"/>
            <a:ext cx="7496848" cy="485731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Successfully developed an end-to-end Skill Gap Analysis system</a:t>
            </a:r>
          </a:p>
          <a:p>
            <a:r>
              <a:rPr lang="en-IN" sz="1800" dirty="0"/>
              <a:t>Used NLP and Machine Learning to solve a real-world problem</a:t>
            </a:r>
          </a:p>
          <a:p>
            <a:r>
              <a:rPr lang="en-IN" sz="1800" dirty="0"/>
              <a:t>The system compares job requirements and candidate skills effectively</a:t>
            </a:r>
          </a:p>
          <a:p>
            <a:r>
              <a:rPr lang="en-IN" sz="1800" dirty="0"/>
              <a:t>Helps job seekers understand missing skills and improve employability</a:t>
            </a:r>
          </a:p>
          <a:p>
            <a:r>
              <a:rPr lang="en-IN" sz="1800" dirty="0"/>
              <a:t>Helps recruiters make better, data-driven hiring decisions.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2615184" y="2953512"/>
            <a:ext cx="6071616" cy="1449154"/>
          </a:xfr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119</TotalTime>
  <Words>736</Words>
  <Application>Microsoft Office PowerPoint</Application>
  <PresentationFormat>On-screen Show (4:3)</PresentationFormat>
  <Paragraphs>102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Parallax</vt:lpstr>
      <vt:lpstr>SkillGapAI: Resume &amp; JD Skill Gap Analysis</vt:lpstr>
      <vt:lpstr>Introduction</vt:lpstr>
      <vt:lpstr>Project Objective</vt:lpstr>
      <vt:lpstr>PowerPoint Presentation</vt:lpstr>
      <vt:lpstr>PowerPoint Presentation</vt:lpstr>
      <vt:lpstr>Milestone 1: Resume &amp; Job Description Data Processing</vt:lpstr>
      <vt:lpstr>PowerPoint Presentation</vt:lpstr>
      <vt:lpstr>PowerPoint Presentation</vt:lpstr>
      <vt:lpstr>PowerPoint Presentation</vt:lpstr>
      <vt:lpstr>Milestone 3: Skill Gap Analysis &amp; Similarity Matching</vt:lpstr>
      <vt:lpstr>PowerPoint Presentation</vt:lpstr>
      <vt:lpstr>PowerPoint Presentation</vt:lpstr>
      <vt:lpstr>PowerPoint Presentation</vt:lpstr>
      <vt:lpstr>Milestone 4: Dashboard &amp;
Report Export</vt:lpstr>
      <vt:lpstr>WORKFLOW</vt:lpstr>
      <vt:lpstr>Milestone 4 : Output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SkillGapAI: Resume &amp; JD Skill Gap Analysis</dc:title>
  <dc:creator>Ickra khan</dc:creator>
  <dc:description>generated using python-pptx</dc:description>
  <cp:lastModifiedBy>Ickra Khan</cp:lastModifiedBy>
  <cp:revision>17</cp:revision>
  <cp:lastPrinted>2026-01-09T07:51:00Z</cp:lastPrinted>
  <dcterms:created xsi:type="dcterms:W3CDTF">2013-01-27T09:14:00Z</dcterms:created>
  <dcterms:modified xsi:type="dcterms:W3CDTF">2026-01-17T07:09:47Z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B8CA0D9CB981405CBB636089F1EE5BB4_12</vt:lpwstr>
  </property>
  <property fmtid="{D5CDD505-2E9C-101B-9397-08002B2CF9AE}" pid="3" name="KSOProductBuildVer">
    <vt:lpwstr>1033-12.2.0.23196</vt:lpwstr>
  </property>
</Properties>
</file>